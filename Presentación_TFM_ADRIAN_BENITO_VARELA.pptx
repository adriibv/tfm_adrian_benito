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1F2937"/>
                </a:solidFill>
                <a:latin typeface="Calibri"/>
              </a:rPr>
              <a:t>Original: Diabetes_012 (% de registros)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registros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62-460A-94A2-338125E0241F}"/>
              </c:ext>
            </c:extLst>
          </c:dPt>
          <c:dPt>
            <c:idx val="1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62-460A-94A2-338125E0241F}"/>
              </c:ext>
            </c:extLst>
          </c:dPt>
          <c:dPt>
            <c:idx val="2"/>
            <c:invertIfNegative val="0"/>
            <c:bubble3D val="0"/>
            <c:spPr>
              <a:solidFill>
                <a:srgbClr val="D18A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62-460A-94A2-338125E0241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diabetes (0)</c:v>
                </c:pt>
                <c:pt idx="1">
                  <c:v>Diabetes (2)</c:v>
                </c:pt>
                <c:pt idx="2">
                  <c:v>Prediabetes (1)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84.24</c:v>
                </c:pt>
                <c:pt idx="1">
                  <c:v>13.93</c:v>
                </c:pt>
                <c:pt idx="2">
                  <c:v>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62-460A-94A2-338125E024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1F2937"/>
                </a:solidFill>
                <a:latin typeface="Calibri"/>
              </a:rPr>
              <a:t>Binarizada: Diabetes_01 (% de registros)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registros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B8-4954-9126-9895BFE19606}"/>
              </c:ext>
            </c:extLst>
          </c:dPt>
          <c:dPt>
            <c:idx val="1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B8-4954-9126-9895BFE1960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Sin diabetes (0)</c:v>
                </c:pt>
                <c:pt idx="1">
                  <c:v>Con diabetes / riesgo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84.24</c:v>
                </c:pt>
                <c:pt idx="1">
                  <c:v>15.76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B8-4954-9126-9895BFE196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s-ES" sz="1400" b="0" i="0" u="none" strike="noStrike" dirty="0">
                <a:solidFill>
                  <a:srgbClr val="1F2937"/>
                </a:solidFill>
                <a:latin typeface="Calibri"/>
              </a:rPr>
              <a:t>Diferencia entre grupos, con diabetes − sin diabetes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Diferencia (pp)</c:v>
                </c:pt>
              </c:strCache>
            </c:strRef>
          </c:tx>
          <c:spPr>
            <a:solidFill>
              <a:srgbClr val="B512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F8-4DE2-B9E0-9536D2A83D37}"/>
              </c:ext>
            </c:extLst>
          </c:dPt>
          <c:dPt>
            <c:idx val="1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F8-4DE2-B9E0-9536D2A83D37}"/>
              </c:ext>
            </c:extLst>
          </c:dPt>
          <c:dPt>
            <c:idx val="2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F8-4DE2-B9E0-9536D2A83D37}"/>
              </c:ext>
            </c:extLst>
          </c:dPt>
          <c:dPt>
            <c:idx val="3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4F8-4DE2-B9E0-9536D2A83D37}"/>
              </c:ext>
            </c:extLst>
          </c:dPt>
          <c:dPt>
            <c:idx val="4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4F8-4DE2-B9E0-9536D2A83D37}"/>
              </c:ext>
            </c:extLst>
          </c:dPt>
          <c:dPt>
            <c:idx val="5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4F8-4DE2-B9E0-9536D2A83D37}"/>
              </c:ext>
            </c:extLst>
          </c:dPt>
          <c:dPt>
            <c:idx val="6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4F8-4DE2-B9E0-9536D2A83D37}"/>
              </c:ext>
            </c:extLst>
          </c:dPt>
          <c:dPt>
            <c:idx val="7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4F8-4DE2-B9E0-9536D2A83D37}"/>
              </c:ext>
            </c:extLst>
          </c:dPt>
          <c:dPt>
            <c:idx val="8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4F8-4DE2-B9E0-9536D2A83D37}"/>
              </c:ext>
            </c:extLst>
          </c:dPt>
          <c:dPt>
            <c:idx val="9"/>
            <c:invertIfNegative val="0"/>
            <c:bubble3D val="0"/>
            <c:spPr>
              <a:solidFill>
                <a:srgbClr val="B51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4F8-4DE2-B9E0-9536D2A83D37}"/>
              </c:ext>
            </c:extLst>
          </c:dPt>
          <c:dPt>
            <c:idx val="10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24F8-4DE2-B9E0-9536D2A83D37}"/>
              </c:ext>
            </c:extLst>
          </c:dPt>
          <c:dPt>
            <c:idx val="11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24F8-4DE2-B9E0-9536D2A83D37}"/>
              </c:ext>
            </c:extLst>
          </c:dPt>
          <c:dPt>
            <c:idx val="12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24F8-4DE2-B9E0-9536D2A83D37}"/>
              </c:ext>
            </c:extLst>
          </c:dPt>
          <c:dPt>
            <c:idx val="13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24F8-4DE2-B9E0-9536D2A83D3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HighBP</c:v>
                </c:pt>
                <c:pt idx="1">
                  <c:v>HighChol</c:v>
                </c:pt>
                <c:pt idx="2">
                  <c:v>DiffWalk</c:v>
                </c:pt>
                <c:pt idx="3">
                  <c:v>HeartDiseaseorAttack</c:v>
                </c:pt>
                <c:pt idx="4">
                  <c:v>Smoker</c:v>
                </c:pt>
                <c:pt idx="5">
                  <c:v>Stroke</c:v>
                </c:pt>
                <c:pt idx="6">
                  <c:v>Sex</c:v>
                </c:pt>
                <c:pt idx="7">
                  <c:v>CholCheck</c:v>
                </c:pt>
                <c:pt idx="8">
                  <c:v>NoDocbcCost</c:v>
                </c:pt>
                <c:pt idx="9">
                  <c:v>AnyHealthcare</c:v>
                </c:pt>
                <c:pt idx="10">
                  <c:v>HvyAlcoholConsump</c:v>
                </c:pt>
                <c:pt idx="11">
                  <c:v>Fruits</c:v>
                </c:pt>
                <c:pt idx="12">
                  <c:v>Veggies</c:v>
                </c:pt>
                <c:pt idx="13">
                  <c:v>PhysActivity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36.72</c:v>
                </c:pt>
                <c:pt idx="1">
                  <c:v>28.52</c:v>
                </c:pt>
                <c:pt idx="2">
                  <c:v>22.81</c:v>
                </c:pt>
                <c:pt idx="3">
                  <c:v>14.19</c:v>
                </c:pt>
                <c:pt idx="4">
                  <c:v>8.56</c:v>
                </c:pt>
                <c:pt idx="5">
                  <c:v>5.68</c:v>
                </c:pt>
                <c:pt idx="6">
                  <c:v>4.03</c:v>
                </c:pt>
                <c:pt idx="7">
                  <c:v>3.53</c:v>
                </c:pt>
                <c:pt idx="8">
                  <c:v>2.9</c:v>
                </c:pt>
                <c:pt idx="9">
                  <c:v>0.84</c:v>
                </c:pt>
                <c:pt idx="10">
                  <c:v>-3.58</c:v>
                </c:pt>
                <c:pt idx="11">
                  <c:v>-5.56</c:v>
                </c:pt>
                <c:pt idx="12">
                  <c:v>-6.35</c:v>
                </c:pt>
                <c:pt idx="13">
                  <c:v>-14.3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24F8-4DE2-B9E0-9536D2A83D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-22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s-ES" sz="1400" b="0" i="0" u="none" strike="noStrike">
                <a:solidFill>
                  <a:srgbClr val="1F2937"/>
                </a:solidFill>
                <a:latin typeface="Calibri"/>
              </a:rPr>
              <a:t>Importancia de variables: Random Forest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B5123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BMI</c:v>
                </c:pt>
                <c:pt idx="1">
                  <c:v>Age</c:v>
                </c:pt>
                <c:pt idx="2">
                  <c:v>GenHlth</c:v>
                </c:pt>
                <c:pt idx="3">
                  <c:v>Income</c:v>
                </c:pt>
                <c:pt idx="4">
                  <c:v>HighBP</c:v>
                </c:pt>
                <c:pt idx="5">
                  <c:v>Education</c:v>
                </c:pt>
                <c:pt idx="6">
                  <c:v>PhysHlth</c:v>
                </c:pt>
                <c:pt idx="7">
                  <c:v>MentHlth</c:v>
                </c:pt>
                <c:pt idx="8">
                  <c:v>HighChol</c:v>
                </c:pt>
                <c:pt idx="9">
                  <c:v>Fruits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0.17710000000000001</c:v>
                </c:pt>
                <c:pt idx="1">
                  <c:v>0.13320000000000001</c:v>
                </c:pt>
                <c:pt idx="2">
                  <c:v>8.9599999999999999E-2</c:v>
                </c:pt>
                <c:pt idx="3">
                  <c:v>8.9499999999999996E-2</c:v>
                </c:pt>
                <c:pt idx="4">
                  <c:v>6.3500000000000001E-2</c:v>
                </c:pt>
                <c:pt idx="5">
                  <c:v>6.3399999999999998E-2</c:v>
                </c:pt>
                <c:pt idx="6">
                  <c:v>5.7700000000000001E-2</c:v>
                </c:pt>
                <c:pt idx="7">
                  <c:v>4.7199999999999999E-2</c:v>
                </c:pt>
                <c:pt idx="8">
                  <c:v>3.6700000000000003E-2</c:v>
                </c:pt>
                <c:pt idx="9">
                  <c:v>2.9700000000000001E-2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1-4363-8378-61337616A9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1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s-ES" sz="1400" b="0" i="0" u="none" strike="noStrike" dirty="0" err="1">
                <a:solidFill>
                  <a:srgbClr val="1F2937"/>
                </a:solidFill>
                <a:latin typeface="Calibri"/>
              </a:rPr>
              <a:t>Recall</a:t>
            </a:r>
            <a:r>
              <a:rPr lang="es-ES" sz="1400" b="0" i="0" u="none" strike="noStrike" dirty="0">
                <a:solidFill>
                  <a:srgbClr val="1F2937"/>
                </a:solidFill>
                <a:latin typeface="Calibri"/>
              </a:rPr>
              <a:t> y AUC-ROC por modelo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(sensibilidad)</c:v>
                </c:pt>
              </c:strCache>
            </c:strRef>
          </c:tx>
          <c:spPr>
            <a:solidFill>
              <a:srgbClr val="B512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Gradient Boosting</c:v>
                </c:pt>
                <c:pt idx="1">
                  <c:v>Regresión logística</c:v>
                </c:pt>
                <c:pt idx="2">
                  <c:v>Red neuronal (MLP)</c:v>
                </c:pt>
                <c:pt idx="3">
                  <c:v>KNN</c:v>
                </c:pt>
                <c:pt idx="4">
                  <c:v>Random 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0.76029999999999998</c:v>
                </c:pt>
                <c:pt idx="1">
                  <c:v>0.73740000000000006</c:v>
                </c:pt>
                <c:pt idx="2">
                  <c:v>0.20050000000000001</c:v>
                </c:pt>
                <c:pt idx="3">
                  <c:v>0.1913</c:v>
                </c:pt>
                <c:pt idx="4">
                  <c:v>0.18529999999999999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7-4AB5-8173-1A9C76308A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Gradient Boosting</c:v>
                </c:pt>
                <c:pt idx="1">
                  <c:v>Regresión logística</c:v>
                </c:pt>
                <c:pt idx="2">
                  <c:v>Red neuronal (MLP)</c:v>
                </c:pt>
                <c:pt idx="3">
                  <c:v>KNN</c:v>
                </c:pt>
                <c:pt idx="4">
                  <c:v>Random Forest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0.80889999999999995</c:v>
                </c:pt>
                <c:pt idx="1">
                  <c:v>0.8004</c:v>
                </c:pt>
                <c:pt idx="2">
                  <c:v>0.80630000000000002</c:v>
                </c:pt>
                <c:pt idx="3">
                  <c:v>0.76629999999999998</c:v>
                </c:pt>
                <c:pt idx="4">
                  <c:v>0.76919999999999999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97-4AB5-8173-1A9C76308A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lang="es-ES" sz="1400" b="0" i="0" u="none" strike="noStrike" dirty="0" err="1">
                <a:solidFill>
                  <a:srgbClr val="1F2937"/>
                </a:solidFill>
                <a:latin typeface="Calibri"/>
              </a:rPr>
              <a:t>Recall</a:t>
            </a:r>
            <a:r>
              <a:rPr lang="es-ES" sz="1400" b="0" i="0" u="none" strike="noStrike" dirty="0">
                <a:solidFill>
                  <a:srgbClr val="1F2937"/>
                </a:solidFill>
                <a:latin typeface="Calibri"/>
              </a:rPr>
              <a:t> antes y después de ajustar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Umbral por defecto (0,5)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Random Forest</c:v>
                </c:pt>
                <c:pt idx="2">
                  <c:v>MLP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0.1913</c:v>
                </c:pt>
                <c:pt idx="1">
                  <c:v>0.18529999999999999</c:v>
                </c:pt>
                <c:pt idx="2">
                  <c:v>0.20050000000000001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92-4757-A9D6-F92FB01073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Umbral óptimo</c:v>
                </c:pt>
              </c:strCache>
            </c:strRef>
          </c:tx>
          <c:spPr>
            <a:solidFill>
              <a:srgbClr val="B512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Random Forest</c:v>
                </c:pt>
                <c:pt idx="2">
                  <c:v>MLP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0.61719999999999997</c:v>
                </c:pt>
                <c:pt idx="1">
                  <c:v>0.61980000000000002</c:v>
                </c:pt>
                <c:pt idx="2">
                  <c:v>0.62419999999999998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92-4757-A9D6-F92FB0107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96CEE-7041-45DA-902E-92CEBC955100}" type="datetimeFigureOut">
              <a:rPr lang="es-ES" smtClean="0"/>
              <a:t>21/09/2026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69977-56DC-4D44-8C69-EF77E19B15A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0235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0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4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DATA SCIENCE Y BUSINESS ANALYTICS  -  IMF SMART EDUCATION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y evaluación de sistemas de predicción de riesgo de diabetes mediante aprendizaje automático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Adrián Benito Varela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Tutor: Juan Manuel Moreno Lamparero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Madrid, 21/09/2026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2560" y="1554480"/>
            <a:ext cx="2743200" cy="274320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331720"/>
            <a:ext cx="118872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4480560"/>
            <a:ext cx="914400" cy="914400"/>
          </a:xfrm>
          <a:prstGeom prst="ellipse">
            <a:avLst/>
          </a:prstGeom>
          <a:solidFill>
            <a:srgbClr val="33363D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607040" y="4754880"/>
            <a:ext cx="502920" cy="502920"/>
          </a:xfrm>
          <a:prstGeom prst="ellipse">
            <a:avLst/>
          </a:prstGeom>
          <a:solidFill>
            <a:srgbClr val="F4A3B7"/>
          </a:solidFill>
          <a:ln w="12700">
            <a:solidFill>
              <a:srgbClr val="F4A3B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Del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reporte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anónimo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y no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invasivo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de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datos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, al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desarrollo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de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una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herramienta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de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predicción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Calibri" panose="020F0502020204030204"/>
              </a:rPr>
              <a:t>clínica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48056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objetivos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48056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diabetes y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obetivo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46720" y="68580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21040" y="96012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32104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3210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 y variables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3210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BRFSS 2015 (CDC) vía Kaggle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06240" y="25603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80560" y="283464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4805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4805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48056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Patrones entre grupos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46720" y="256032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21040" y="283464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3210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2104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 y selección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3210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Limpieza, escalado y variables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06240" y="443484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80560" y="470916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48056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48056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resultados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48056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algoritmos, umbrales y comparativa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46720" y="4434840"/>
            <a:ext cx="361188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21040" y="470916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210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32104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21040" y="5715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 elegido y limitaciones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– CONTEXTO Y OBJETIVOS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La diabetes: un reto sanitario del s. XXI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diabetes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manera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asintomática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personas convive con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un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temprano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capaces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cribado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invasivo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basado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permitiría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actuar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alto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iesgo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288036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280160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Diabetes tipo 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68680" y="36576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Reacción autoinmune: el cuerpo ataca las células del páncreas que producen insulina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insulina externa en el día a día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Aparece sobre todo en niños y adultos jóvenes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45352" y="2514600"/>
            <a:ext cx="5394960" cy="288036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979920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Diabetes tipo II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565392" y="36576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 la insulina por sedentarismo y sobrepeso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Suele aparecer en adultos, habitualmente por encima de los 40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 el tiempo, el páncreas deja de compensar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48640" y="5685995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22242A"/>
          </a:solidFill>
          <a:ln w="12700">
            <a:solidFill>
              <a:srgbClr val="2224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22960" y="5685995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 orígenes distintos,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mismo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resultado: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glucosa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sangre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elevados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manera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CONTEXTO Y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OBJETIVOS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22242A"/>
          </a:solidFill>
          <a:ln w="12700">
            <a:solidFill>
              <a:srgbClr val="2224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evaluar modelos de aprendizaje automático supervisado para predecir el riesgo de diabetes a partir de variables sanitarias, demográficas y de estilo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minimizar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falsos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negativos y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maximizar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positivos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reales.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0" y="1554480"/>
            <a:ext cx="6611112" cy="1051560"/>
          </a:xfrm>
          <a:prstGeom prst="roundRect">
            <a:avLst>
              <a:gd name="adj" fmla="val 104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57800" y="1801368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0350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035040" y="2057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EDA para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posibles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visual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 y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binarización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la variable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0" y="2724912"/>
            <a:ext cx="6611112" cy="1051560"/>
          </a:xfrm>
          <a:prstGeom prst="roundRect">
            <a:avLst>
              <a:gd name="adj" fmla="val 104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257800" y="297180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6035040" y="28620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entrenamiento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035040" y="3227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Varios algoritmos supervisados,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escalados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optimizados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cruzada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029200" y="3895344"/>
            <a:ext cx="6611112" cy="1051560"/>
          </a:xfrm>
          <a:prstGeom prst="roundRect">
            <a:avLst>
              <a:gd name="adj" fmla="val 104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257800" y="4142232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6035040" y="40325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comparativa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035040" y="4398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estandar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ensibilidad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precisión, AUC-ROC y F1,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priorizando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 AUC-ROC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desempate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029200" y="5065776"/>
            <a:ext cx="6611112" cy="1051560"/>
          </a:xfrm>
          <a:prstGeom prst="roundRect">
            <a:avLst>
              <a:gd name="adj" fmla="val 104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257800" y="5312664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6035040" y="52029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y conclusiones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6035040" y="55686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conclusions y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cribado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58B6E2FC-E064-DC3A-054E-29CD691F5B61}"/>
              </a:ext>
            </a:extLst>
          </p:cNvPr>
          <p:cNvSpPr txBox="1"/>
          <p:nvPr/>
        </p:nvSpPr>
        <p:spPr>
          <a:xfrm>
            <a:off x="525780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152AFF1A-1CB7-4317-DCE3-8DABE2AF7662}"/>
              </a:ext>
            </a:extLst>
          </p:cNvPr>
          <p:cNvSpPr txBox="1"/>
          <p:nvPr/>
        </p:nvSpPr>
        <p:spPr>
          <a:xfrm>
            <a:off x="5257800" y="297794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84D3ED85-9808-575B-64E6-E7DEC05DC62E}"/>
              </a:ext>
            </a:extLst>
          </p:cNvPr>
          <p:cNvSpPr txBox="1"/>
          <p:nvPr/>
        </p:nvSpPr>
        <p:spPr>
          <a:xfrm>
            <a:off x="525780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+mn-cs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1D889F19-DA85-0D1F-B6E5-6BA87DABE7E9}"/>
              </a:ext>
            </a:extLst>
          </p:cNvPr>
          <p:cNvSpPr txBox="1"/>
          <p:nvPr/>
        </p:nvSpPr>
        <p:spPr>
          <a:xfrm>
            <a:off x="5276088" y="5312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DATOS Y VARIABLES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</a:rPr>
              <a:t>Diabetes Health </a:t>
            </a:r>
            <a:r>
              <a:rPr lang="es-ES" sz="3000" b="1" dirty="0" err="1">
                <a:solidFill>
                  <a:srgbClr val="1F2937"/>
                </a:solidFill>
                <a:latin typeface="Cambria" pitchFamily="34" charset="0"/>
                <a:ea typeface="Cambria" pitchFamily="34" charset="-122"/>
              </a:rPr>
              <a:t>Indicators</a:t>
            </a:r>
            <a:r>
              <a:rPr lang="es-E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s-ES" sz="3000" b="1" dirty="0" err="1">
                <a:solidFill>
                  <a:srgbClr val="1F2937"/>
                </a:solidFill>
                <a:latin typeface="Cambria" pitchFamily="34" charset="0"/>
                <a:ea typeface="Cambria" pitchFamily="34" charset="-122"/>
              </a:rPr>
              <a:t>Dataset</a:t>
            </a:r>
            <a:r>
              <a:rPr lang="es-E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</a:rPr>
              <a:t> – Basado en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BRFSS 2015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253.680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individuos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92424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621024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621024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6208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64808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23.899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464808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79992" y="155448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308592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308592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nulos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38803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47466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1182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44289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Encuesta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un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organismo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oficial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autores de la mayor encuesta telefónica de salud del mundo.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306824" y="447466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461182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038344" y="44289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Más de 250.000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suficiente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probar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complejos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8065008" y="4474660"/>
            <a:ext cx="548640" cy="54864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461182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796528" y="44289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libre, poco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invasivo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alto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coste-beneficio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logra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buena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precision.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DATOS Y VARIABLES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97395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los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: variables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64081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120140" y="2346961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estado fisiológico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variables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2960" y="3307081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HighBP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presión arterial alta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HighChol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colesterol elevado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CholCheck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chequeo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colesterol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índice de masa corporal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11396" y="2164081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4882896" y="2344011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 y estilo de vida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variables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585716" y="3307081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fumador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Stroke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ictus previo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HeartDiseaseorAttack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cardiopatía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 infarto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PhysActivity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actividad física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Fruits / Veggies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consumo diario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HvyAlcoholConsump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alcohol elevado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74152" y="2164081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645652" y="2392681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Salud general y demografía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variables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348472" y="3307081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GenHlth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salud general (1-5)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MentHlth /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PhysHlth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días de mala salud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DiffWalk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dificultad al caminar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AnyHealthcare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cobertura sanitaria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NoDocbcCost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barrera económica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Sex, Age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sexo y tramo de edad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Income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educativo e ingresos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E30DD02-9FCF-FC54-3B57-3E35437FCD4C}"/>
              </a:ext>
            </a:extLst>
          </p:cNvPr>
          <p:cNvSpPr txBox="1"/>
          <p:nvPr/>
        </p:nvSpPr>
        <p:spPr>
          <a:xfrm>
            <a:off x="491564" y="1523333"/>
            <a:ext cx="3623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</a:t>
            </a:r>
            <a:r>
              <a:rPr lang="en-US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b="1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Diabetes_012</a:t>
            </a:r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DATOS Y VARIABLES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Desbalanceo de clases y binarización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48960536"/>
              </p:ext>
            </p:extLst>
          </p:nvPr>
        </p:nvGraphicFramePr>
        <p:xfrm>
          <a:off x="548640" y="14630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45352" y="14630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4632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9E3E9"/>
          </a:solidFill>
          <a:ln w="12700">
            <a:solidFill>
              <a:srgbClr val="F9E3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806245" y="4937760"/>
            <a:ext cx="105780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 prediabetes solo suponía un 1,8 % de los registros.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 tener un riesgo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similar, </a:t>
            </a:r>
            <a:r>
              <a:rPr lang="en-US" sz="16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reversible,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agrupó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única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junto con la diabetes, lo que permite además aplicar medidas preventivas.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ANÁLISIS EXPLORATORIO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EDA: variables con mayor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rango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0618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009218"/>
            <a:ext cx="594360" cy="59436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157808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0921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2960" y="2832178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Valores más altos en promedio en el grupo con diabetes, con gran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valores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atípicos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Tanto el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sobrepeso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la obesidad son un factor de riesgo clave de la diabetes tipo II.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11396" y="1780618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85716" y="2009218"/>
            <a:ext cx="594360" cy="59436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306" y="2157808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17236" y="200921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4585716" y="2832178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edad superior en el grupo con diabetes.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Según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estudios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aumentaria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partir de los 35-45 años.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74152" y="1780618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348472" y="2009218"/>
            <a:ext cx="594360" cy="59436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62" y="2157808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79992" y="200921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Salud general (GenHlth)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348472" y="2832178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con diabetes se perciben con peor salud general.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emplearse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variable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predictora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la diabetes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II.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4843858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22242A"/>
          </a:solidFill>
          <a:ln w="12700">
            <a:solidFill>
              <a:srgbClr val="2224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68680" y="495815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Salud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física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51,9 %  vs  34,1 %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868680" y="571253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 al menos 1 día de mala salud física (con diabetes vs. sin diabetes)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245352" y="4843858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22242A"/>
          </a:solidFill>
          <a:ln w="12700">
            <a:solidFill>
              <a:srgbClr val="2224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6611112" y="495815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Salud mental -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27,4 %  vs  21,3 %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6565392" y="571253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 más de 2 días de mala salud mental (con diabetes vs. sin diabetes)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9E58D9B9-59F0-FD4C-EF57-963F0C196237}"/>
              </a:ext>
            </a:extLst>
          </p:cNvPr>
          <p:cNvSpPr txBox="1"/>
          <p:nvPr/>
        </p:nvSpPr>
        <p:spPr>
          <a:xfrm>
            <a:off x="571500" y="1331595"/>
            <a:ext cx="1109167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analizaron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las variables con mayor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rango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frente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la variable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objetivo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ANÁLISIS EXPLORATORIO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Variables binarias: análisis bivariado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91384015"/>
              </p:ext>
            </p:extLst>
          </p:nvPr>
        </p:nvGraphicFramePr>
        <p:xfrm>
          <a:off x="548640" y="1417320"/>
          <a:ext cx="69494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67912" cy="4617720"/>
          </a:xfrm>
          <a:prstGeom prst="roundRect">
            <a:avLst>
              <a:gd name="adj" fmla="val 283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046720" y="1783080"/>
            <a:ext cx="3337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Mayor diferencia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HighBP (+36,7), HighChol (+28,5) y DiffWalk (+22,8)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muestran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claramente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 la diabetes.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Curiosidad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B5123A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alto consumo de alcohol aparece menos en el grupo con diabetes: correlación no implica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causalidad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correlaciones no mostró relaciones lo bastante fuertes como para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 variable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PREPROCESADO Y SELECCIÓN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Preprocesado de datos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1892808"/>
            <a:ext cx="685800" cy="68580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828800" y="1737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nulos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828800" y="21488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venía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complete.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229600" y="1737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229600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nulos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68680" y="3447288"/>
            <a:ext cx="685800" cy="68580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828800" y="32918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duplicados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828800" y="37033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Habituales en encuestas.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eliminaron para evitar patrones 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artificiales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229600" y="3291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23.899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8229600" y="4023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68680" y="5001768"/>
            <a:ext cx="685800" cy="68580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828800" y="4846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Winsorización del BMI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828800" y="52578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extremos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BMI se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limitaron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60</a:t>
            </a:r>
            <a:endParaRPr lang="en-US" sz="14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 encima de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umbral, el riesgo deja de crecer de forma exponencial.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8229600" y="4846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0,3 %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8229600" y="5577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afectados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273F8ADF-15C1-26D1-25EB-E7E1F35F7AD6}"/>
              </a:ext>
            </a:extLst>
          </p:cNvPr>
          <p:cNvSpPr txBox="1"/>
          <p:nvPr/>
        </p:nvSpPr>
        <p:spPr>
          <a:xfrm>
            <a:off x="868680" y="1892808"/>
            <a:ext cx="685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8900DD5A-F773-1CD3-BC6F-19797ABC85D5}"/>
              </a:ext>
            </a:extLst>
          </p:cNvPr>
          <p:cNvSpPr txBox="1"/>
          <p:nvPr/>
        </p:nvSpPr>
        <p:spPr>
          <a:xfrm>
            <a:off x="879494" y="3474720"/>
            <a:ext cx="685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4639E941-1306-0068-E1FC-69509E425301}"/>
              </a:ext>
            </a:extLst>
          </p:cNvPr>
          <p:cNvSpPr txBox="1"/>
          <p:nvPr/>
        </p:nvSpPr>
        <p:spPr>
          <a:xfrm>
            <a:off x="868680" y="5029200"/>
            <a:ext cx="685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PREPROCESADO Y SELECCIÓN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variables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88199797"/>
              </p:ext>
            </p:extLst>
          </p:nvPr>
        </p:nvGraphicFramePr>
        <p:xfrm>
          <a:off x="548640" y="1417320"/>
          <a:ext cx="60350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54480"/>
            <a:ext cx="4782312" cy="2953512"/>
          </a:xfrm>
          <a:prstGeom prst="roundRect">
            <a:avLst>
              <a:gd name="adj" fmla="val 774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980903" y="1645920"/>
            <a:ext cx="4522249" cy="2749099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Importanci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 variables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realizaron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mediante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Random Forest 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Mutua.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pudo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observer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clasificaba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variables, sin embargo,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acababan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858000" y="4754880"/>
            <a:ext cx="4782312" cy="1417320"/>
          </a:xfrm>
          <a:prstGeom prst="roundRect">
            <a:avLst>
              <a:gd name="adj" fmla="val 774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6980903" y="4846320"/>
            <a:ext cx="452224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eliminadas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Stroke, HvyAlcoholConsump y NoDocbcCost: relación débil de forma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decidió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eliminarlas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PREPROCESADO Y SELECCIÓN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Partición y escalado sin fuga de datos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873338" cy="822960"/>
          </a:xfrm>
          <a:prstGeom prst="rect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421978" y="1554480"/>
            <a:ext cx="2218334" cy="822960"/>
          </a:xfrm>
          <a:prstGeom prst="rect">
            <a:avLst/>
          </a:prstGeom>
          <a:solidFill>
            <a:srgbClr val="22242A"/>
          </a:solidFill>
          <a:ln w="12700">
            <a:solidFill>
              <a:srgbClr val="2224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887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 80 %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421978" y="1554480"/>
            <a:ext cx="22183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20 %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868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Partición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8680" y="33832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División clásica 80/20: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suficientes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en train y un test lo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bastante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fiable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stratify=y: mantiene la proporción de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Conjuntos guardados en .csv para usar siempre los mismos datos en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45352" y="265176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65392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Escalado con StandardScaler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65392" y="33832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Solo sobre variables no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binarias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ajusta con train y con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esos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aplica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test para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fuga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lang="en-US" sz="15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medias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0 y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</a:t>
            </a:r>
            <a:r>
              <a:rPr lang="en-US" sz="15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cercanas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0.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MODELADO Y RESULTADOS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Cinco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35454" cy="3383280"/>
          </a:xfrm>
          <a:prstGeom prst="roundRect">
            <a:avLst>
              <a:gd name="adj" fmla="val 53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 · LINEAL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77240" y="3749040"/>
            <a:ext cx="16696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balanceo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clases nativo.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812694" y="1554480"/>
            <a:ext cx="2035454" cy="3383280"/>
          </a:xfrm>
          <a:prstGeom prst="roundRect">
            <a:avLst>
              <a:gd name="adj" fmla="val 53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041294" y="1783080"/>
            <a:ext cx="640080" cy="64008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314" y="19431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41294" y="260604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2952903" y="3246120"/>
            <a:ext cx="18952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DISTANCIAS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3041294" y="3749040"/>
            <a:ext cx="16696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distancias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sin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balanceo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076749" y="1554480"/>
            <a:ext cx="2035454" cy="3383280"/>
          </a:xfrm>
          <a:prstGeom prst="roundRect">
            <a:avLst>
              <a:gd name="adj" fmla="val 53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305349" y="1783080"/>
            <a:ext cx="640080" cy="64008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369" y="19431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5349" y="260604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5305349" y="324612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ÁRBOLES · BAGGING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5305349" y="3749040"/>
            <a:ext cx="16696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Combina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5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media.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340803" y="1554480"/>
            <a:ext cx="2035454" cy="3383280"/>
          </a:xfrm>
          <a:prstGeom prst="roundRect">
            <a:avLst>
              <a:gd name="adj" fmla="val 53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569403" y="1783080"/>
            <a:ext cx="640080" cy="64008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9423" y="19431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69403" y="260604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7569403" y="324612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ÁRBOLES · BOOSTING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7569403" y="3749040"/>
            <a:ext cx="16696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ejecutan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árboles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forma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secuencial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dependiente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aprenden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del anterior.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9604858" y="1554480"/>
            <a:ext cx="2035454" cy="3383280"/>
          </a:xfrm>
          <a:prstGeom prst="roundRect">
            <a:avLst>
              <a:gd name="adj" fmla="val 53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9833458" y="1783080"/>
            <a:ext cx="640080" cy="64008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478" y="19431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33458" y="260604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(MLP)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5"/>
          <p:cNvSpPr txBox="1"/>
          <p:nvPr/>
        </p:nvSpPr>
        <p:spPr>
          <a:xfrm>
            <a:off x="9833458" y="3246120"/>
            <a:ext cx="1669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SIMPLE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9833458" y="3749040"/>
            <a:ext cx="16696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Busca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ocultas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kumimoji="0" 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variables.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22242A"/>
          </a:solidFill>
          <a:ln w="12700">
            <a:solidFill>
              <a:srgbClr val="2224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868680" y="52120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Balanceo nativo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(class_weight='balanced') en Regresión Logística y Gradient Boosting  y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Ajuste de umbral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 validación cruzada en KNN, Random Forest y MLP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0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MODELADO Y RESULTADOS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del primer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despliegue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09224740"/>
              </p:ext>
            </p:extLst>
          </p:nvPr>
        </p:nvGraphicFramePr>
        <p:xfrm>
          <a:off x="548640" y="1417320"/>
          <a:ext cx="722376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554480"/>
            <a:ext cx="3593592" cy="1417320"/>
          </a:xfrm>
          <a:prstGeom prst="roundRect">
            <a:avLst>
              <a:gd name="adj" fmla="val 774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75320" y="1664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0,76 – 0,81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75320" y="22402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AUC-ROC de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sitúa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son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capaces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046720" y="3154680"/>
            <a:ext cx="3593592" cy="1417320"/>
          </a:xfrm>
          <a:prstGeom prst="roundRect">
            <a:avLst>
              <a:gd name="adj" fmla="val 774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275320" y="3264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0,74 – 0,76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275320" y="38404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 embargo, tan solo Gradient Boosting y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ofrecen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aptas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minoritaria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46720" y="4754880"/>
            <a:ext cx="3593592" cy="1417320"/>
          </a:xfrm>
          <a:prstGeom prst="roundRect">
            <a:avLst>
              <a:gd name="adj" fmla="val 7742"/>
            </a:avLst>
          </a:prstGeom>
          <a:solidFill>
            <a:srgbClr val="F9E3E9"/>
          </a:solidFill>
          <a:ln w="12700">
            <a:solidFill>
              <a:srgbClr val="F9E3E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275320" y="48646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&lt; 0,21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275320" y="5440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MLP, KNN y Random Forest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muestran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bajas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necesario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sus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MODELADO Y RESULTADOS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Ajuste del umbral de decisión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0817302"/>
              </p:ext>
            </p:extLst>
          </p:nvPr>
        </p:nvGraphicFramePr>
        <p:xfrm>
          <a:off x="548640" y="1417320"/>
          <a:ext cx="667512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16829"/>
            <a:ext cx="4142232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772400" y="155398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Umbral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óptimo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772400" y="2011189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0058400" y="2011189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0,267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772400" y="2514109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058400" y="2514109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0,261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772400" y="3017029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058400" y="3017029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0,230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498080" y="3794269"/>
            <a:ext cx="4142232" cy="2487168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772400" y="3931428"/>
            <a:ext cx="3657600" cy="228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decide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umbral de decision.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maximiza F1 y no recall: con el recall el umbral se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situaría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torno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0 y todo se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clasificaría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positive.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AUC-ROC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permanece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antes del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ajuste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recall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sacrificando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MODELADO Y RESULTADOS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final de modelos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48640" y="1508760"/>
          <a:ext cx="11091672" cy="4114800"/>
        </p:xfrm>
        <a:graphic>
          <a:graphicData uri="http://schemas.openxmlformats.org/drawingml/2006/table">
            <a:tbl>
              <a:tblPr/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4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5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(umbral óptimo)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(umbral óptimo)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(umbral óptimo)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neuronal (MLP)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se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Recall y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adicionalmente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AUC-ROC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hubiese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parejos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tomarlo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decision.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Gradient Boosting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el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major se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F4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MODELADO Y RESULTADOS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33363D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0,81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Bastante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buena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discriminación global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92424" y="16002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33363D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621024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0,76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21024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621024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ensibilidad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minoritaria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 diabetes)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36208" y="16002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33363D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64808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0,71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64808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64808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correcto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precision global.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79992" y="16002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33363D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308592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0,475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308592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308592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desbalanceo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ideal.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F4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4864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 variables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predictoras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alanceo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clases nativo (class_weight='balanced’).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71% de precision general y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3 de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enfermos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diabetes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detectados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0936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PREDICTORAS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09360" y="47091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309360" y="470916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masa corporal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47091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119872" y="470916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930384" y="4709160"/>
            <a:ext cx="1673352" cy="914400"/>
          </a:xfrm>
          <a:prstGeom prst="roundRect">
            <a:avLst>
              <a:gd name="adj" fmla="val 12000"/>
            </a:avLst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9930384" y="470916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GenHlth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Salud general percibida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del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detectar el mayor número de casos de riesgo, aun a costa de introducir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falsos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positivos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ecuación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CONCLUSIONES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00200" y="18105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 posible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obtener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suficiente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partir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daos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obtenidos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forma no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invasiva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 diabetes.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45352" y="155448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19672" y="1810512"/>
            <a:ext cx="594360" cy="59436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296912" y="18105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general similar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519672" y="2606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cinco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capaces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Riesgo de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similar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(AUC-ROC 0,76 – 0,81).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principal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minoritaria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22960" y="4279392"/>
            <a:ext cx="594360" cy="59436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600200" y="42793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Desbalanceo controlable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22960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desbalanceo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clases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muestra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relativamente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controlable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gracias a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mecanismos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balanceo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nativos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ajustes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sobre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umbrales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decision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calculados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19" name="Shape 14"/>
          <p:cNvSpPr/>
          <p:nvPr/>
        </p:nvSpPr>
        <p:spPr>
          <a:xfrm>
            <a:off x="6245352" y="402336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519672" y="4279392"/>
            <a:ext cx="594360" cy="59436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7296912" y="42793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Gradient Boosting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6519672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 un AUC-ROC de 0,81 y recall de 0,76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tanto, es el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31BBC361-BF6F-E5F4-22E3-35B182F53C98}"/>
              </a:ext>
            </a:extLst>
          </p:cNvPr>
          <p:cNvSpPr txBox="1"/>
          <p:nvPr/>
        </p:nvSpPr>
        <p:spPr>
          <a:xfrm>
            <a:off x="780288" y="1764792"/>
            <a:ext cx="685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F716761-8739-810A-E664-7BAB856AF581}"/>
              </a:ext>
            </a:extLst>
          </p:cNvPr>
          <p:cNvSpPr txBox="1"/>
          <p:nvPr/>
        </p:nvSpPr>
        <p:spPr>
          <a:xfrm>
            <a:off x="6473952" y="1764792"/>
            <a:ext cx="685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6B1C95E-3458-A807-F1C4-3FBB3A3B8693}"/>
              </a:ext>
            </a:extLst>
          </p:cNvPr>
          <p:cNvSpPr txBox="1"/>
          <p:nvPr/>
        </p:nvSpPr>
        <p:spPr>
          <a:xfrm>
            <a:off x="780288" y="4233672"/>
            <a:ext cx="685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CC451CE8-F26A-5C57-6A05-D3261845D402}"/>
              </a:ext>
            </a:extLst>
          </p:cNvPr>
          <p:cNvSpPr txBox="1"/>
          <p:nvPr/>
        </p:nvSpPr>
        <p:spPr>
          <a:xfrm>
            <a:off x="6473951" y="4231607"/>
            <a:ext cx="6857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200" dirty="0">
                <a:solidFill>
                  <a:srgbClr val="B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B512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CONCLUSIONES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69074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00100" y="1828800"/>
            <a:ext cx="4892040" cy="6400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2242A"/>
              </a:gs>
              <a:gs pos="100000">
                <a:srgbClr val="22242A">
                  <a:alpha val="89804"/>
                </a:srgbClr>
              </a:gs>
            </a:gsLst>
            <a:lin ang="0" scaled="1"/>
          </a:gra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Sesgo de memoria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encuestados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tienden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 no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algunos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embargo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Genera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ocurre en exceso, condiciona a los modelos.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45352" y="15544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519672" y="26974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tiende a contestar lo socialmente aceptable y no la realidad, lo que introduce 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22242A"/>
          </a:solidFill>
          <a:ln w="12700">
            <a:solidFill>
              <a:srgbClr val="2224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8686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4A3B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Más ruido del deseado 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Las predicciones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quedan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buenos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pero no excelentes,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podría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alcanzarse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con datos empíricos procedentes de pruebas o análisis clínicos.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126E82C-C950-28F6-1FE4-0DB35E12D54C}"/>
              </a:ext>
            </a:extLst>
          </p:cNvPr>
          <p:cNvSpPr txBox="1"/>
          <p:nvPr/>
        </p:nvSpPr>
        <p:spPr>
          <a:xfrm>
            <a:off x="6519672" y="1831039"/>
            <a:ext cx="4892040" cy="6400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2242A"/>
              </a:gs>
              <a:gs pos="100000">
                <a:srgbClr val="22242A">
                  <a:alpha val="89804"/>
                </a:srgbClr>
              </a:gs>
            </a:gsLst>
            <a:lin ang="0" scaled="1"/>
          </a:gra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Sesgo de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deseabilidad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social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4389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Adrián Benito Varela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Tutor: Juan Manuel Moreno Lamparero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Data Science y Business Analytics - IMF Smart Education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2560" y="1554480"/>
            <a:ext cx="2743200" cy="2743200"/>
          </a:xfrm>
          <a:prstGeom prst="ellipse">
            <a:avLst/>
          </a:prstGeom>
          <a:solidFill>
            <a:srgbClr val="B5123A"/>
          </a:solidFill>
          <a:ln w="12700">
            <a:solidFill>
              <a:srgbClr val="B512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331720"/>
            <a:ext cx="118872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4480560"/>
            <a:ext cx="914400" cy="914400"/>
          </a:xfrm>
          <a:prstGeom prst="ellipse">
            <a:avLst/>
          </a:prstGeom>
          <a:solidFill>
            <a:srgbClr val="33363D"/>
          </a:solidFill>
          <a:ln w="12700">
            <a:solidFill>
              <a:srgbClr val="33363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607040" y="4754880"/>
            <a:ext cx="502920" cy="502920"/>
          </a:xfrm>
          <a:prstGeom prst="ellipse">
            <a:avLst/>
          </a:prstGeom>
          <a:solidFill>
            <a:srgbClr val="F4A3B7"/>
          </a:solidFill>
          <a:ln w="12700">
            <a:solidFill>
              <a:srgbClr val="F4A3B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1961</Words>
  <Application>Microsoft Office PowerPoint</Application>
  <PresentationFormat>Panorámica</PresentationFormat>
  <Paragraphs>376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BENITO VARELA</dc:creator>
  <cp:lastModifiedBy>ADRIAN BENITO VARELA</cp:lastModifiedBy>
  <cp:revision>23</cp:revision>
  <dcterms:created xsi:type="dcterms:W3CDTF">2026-09-21T09:53:33Z</dcterms:created>
  <dcterms:modified xsi:type="dcterms:W3CDTF">2026-09-21T15:58:57Z</dcterms:modified>
</cp:coreProperties>
</file>